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D1F9"/>
    <a:srgbClr val="2563EB"/>
    <a:srgbClr val="C39BE1"/>
    <a:srgbClr val="ADF1C5"/>
    <a:srgbClr val="22C55E"/>
    <a:srgbClr val="93B1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6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121489" y="569346"/>
            <a:ext cx="490102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563EB"/>
                </a:solidFill>
              </a:defRPr>
            </a:pPr>
            <a:r>
              <a:rPr lang="en-US" dirty="0"/>
              <a:t>Fraud management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3B82F6"/>
                </a:solidFill>
              </a:defRPr>
            </a:pPr>
            <a:r>
              <a:rPr dirty="0"/>
              <a:t>Through Risk Assessment and Predictive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rPr dirty="0"/>
              <a:t>A Multi-Layered AML Framework using NLP-Driven Policy Mapping</a:t>
            </a:r>
          </a:p>
          <a:p>
            <a:r>
              <a:rPr dirty="0"/>
              <a:t>and Explainable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05595" y="5943600"/>
            <a:ext cx="373281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rPr lang="en-US" dirty="0"/>
              <a:t>Simit Das(</a:t>
            </a:r>
            <a:r>
              <a:rPr lang="en-US" sz="1400" dirty="0"/>
              <a:t>2023AA05807</a:t>
            </a:r>
            <a:r>
              <a:rPr lang="en-US" sz="1400" b="1" dirty="0"/>
              <a:t>)</a:t>
            </a:r>
            <a:r>
              <a:rPr dirty="0"/>
              <a:t>| </a:t>
            </a:r>
            <a:r>
              <a:rPr lang="en-US" dirty="0"/>
              <a:t>BITS Pilani</a:t>
            </a:r>
            <a:r>
              <a:rPr dirty="0"/>
              <a:t> | 202</a:t>
            </a:r>
            <a:r>
              <a:rPr lang="en-US" dirty="0"/>
              <a:t>5-26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Introduction &amp; Problem Statement</a:t>
            </a:r>
          </a:p>
          <a:p>
            <a:pPr>
              <a:defRPr sz="1800"/>
            </a:pPr>
            <a:r>
              <a:rPr dirty="0"/>
              <a:t>System Architecture Overview</a:t>
            </a:r>
          </a:p>
          <a:p>
            <a:pPr>
              <a:defRPr sz="1800"/>
            </a:pPr>
            <a:r>
              <a:rPr dirty="0"/>
              <a:t>Technical Stack &amp; Technologies</a:t>
            </a:r>
          </a:p>
          <a:p>
            <a:pPr>
              <a:defRPr sz="1800"/>
            </a:pPr>
            <a:r>
              <a:rPr dirty="0"/>
              <a:t>Four Core Modules</a:t>
            </a:r>
          </a:p>
          <a:p>
            <a:pPr>
              <a:defRPr sz="1800"/>
            </a:pPr>
            <a:r>
              <a:rPr dirty="0"/>
              <a:t>Implementation &amp; Results</a:t>
            </a:r>
          </a:p>
          <a:p>
            <a:pPr>
              <a:defRPr sz="1800"/>
            </a:pPr>
            <a:r>
              <a:rPr dirty="0"/>
              <a:t>Explainable AI Integration</a:t>
            </a:r>
          </a:p>
          <a:p>
            <a:pPr>
              <a:defRPr sz="1800"/>
            </a:pPr>
            <a:r>
              <a:rPr dirty="0"/>
              <a:t>Key Findings &amp; Metrics</a:t>
            </a:r>
          </a:p>
          <a:p>
            <a:pPr>
              <a:defRPr sz="1800"/>
            </a:pPr>
            <a:r>
              <a:rPr dirty="0"/>
              <a:t>Recommendations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F2937"/>
                </a:solidFill>
              </a:defRPr>
            </a:pPr>
            <a:r>
              <a:t>The AML Challenge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920240" cy="137160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$800B-$2T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Global ML Volume</a:t>
            </a:r>
          </a:p>
          <a:p>
            <a:pPr algn="ctr">
              <a:defRPr sz="1000">
                <a:solidFill>
                  <a:srgbClr val="FFDCDC"/>
                </a:solidFill>
              </a:defRPr>
            </a:pPr>
            <a:r>
              <a:t>2-5% of global GDP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1188720"/>
            <a:ext cx="1920240" cy="137160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95%+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False Positive Rate</a:t>
            </a:r>
          </a:p>
          <a:p>
            <a:pPr algn="ctr">
              <a:defRPr sz="1000">
                <a:solidFill>
                  <a:srgbClr val="FFDCDC"/>
                </a:solidFill>
              </a:defRPr>
            </a:pPr>
            <a:r>
              <a:t>Traditional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188720"/>
            <a:ext cx="1920240" cy="137160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48+ hours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/>
              <a:t>Manual Review</a:t>
            </a:r>
          </a:p>
          <a:p>
            <a:pPr algn="ctr">
              <a:defRPr sz="1000">
                <a:solidFill>
                  <a:srgbClr val="FFDCDC"/>
                </a:solidFill>
              </a:defRPr>
            </a:pPr>
            <a:r>
              <a:rPr dirty="0"/>
              <a:t>Per case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66559" y="1188720"/>
            <a:ext cx="1920240" cy="137160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rPr dirty="0"/>
              <a:t>High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rPr dirty="0"/>
              <a:t>Regulatory</a:t>
            </a:r>
          </a:p>
          <a:p>
            <a:pPr algn="ctr">
              <a:defRPr sz="1000">
                <a:solidFill>
                  <a:srgbClr val="FFDCDC"/>
                </a:solidFill>
              </a:defRPr>
            </a:pPr>
            <a:r>
              <a:rPr dirty="0"/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rPr dirty="0"/>
              <a:t>Key Challenges:</a:t>
            </a:r>
          </a:p>
          <a:p>
            <a:pPr lvl="1">
              <a:defRPr sz="1600"/>
            </a:pPr>
            <a:r>
              <a:rPr dirty="0"/>
              <a:t>Manual compliance processes are slow and error-prone</a:t>
            </a:r>
          </a:p>
          <a:p>
            <a:pPr lvl="1">
              <a:defRPr sz="1600"/>
            </a:pPr>
            <a:r>
              <a:rPr dirty="0"/>
              <a:t>Evolving laundering techniques outpace detection methods</a:t>
            </a:r>
          </a:p>
          <a:p>
            <a:pPr lvl="1">
              <a:defRPr sz="1600"/>
            </a:pPr>
            <a:r>
              <a:rPr dirty="0"/>
              <a:t>High operational costs for compliance teams</a:t>
            </a:r>
          </a:p>
          <a:p>
            <a:pPr lvl="1">
              <a:defRPr sz="1600"/>
            </a:pPr>
            <a:r>
              <a:rPr dirty="0"/>
              <a:t>Lack of explainability in current AI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517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rPr dirty="0"/>
              <a:t>System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828800" cy="10972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>
                <a:effectLst>
                  <a:glow rad="127000">
                    <a:schemeClr val="accent1">
                      <a:alpha val="96000"/>
                    </a:schemeClr>
                  </a:glow>
                </a:effectLst>
              </a:rPr>
              <a:t>Data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468880" y="1463040"/>
            <a:ext cx="1828800" cy="914400"/>
          </a:xfrm>
          <a:prstGeom prst="rect">
            <a:avLst/>
          </a:prstGeom>
          <a:solidFill>
            <a:srgbClr val="93B1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Transaction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463040"/>
            <a:ext cx="1828800" cy="914400"/>
          </a:xfrm>
          <a:prstGeom prst="rect">
            <a:avLst/>
          </a:prstGeom>
          <a:solidFill>
            <a:srgbClr val="93B1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Customer Profiles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463040"/>
            <a:ext cx="1828800" cy="914400"/>
          </a:xfrm>
          <a:prstGeom prst="rect">
            <a:avLst/>
          </a:prstGeom>
          <a:solidFill>
            <a:srgbClr val="93B1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Regulatory Docs</a:t>
            </a:r>
          </a:p>
        </p:txBody>
      </p:sp>
      <p:sp>
        <p:nvSpPr>
          <p:cNvPr id="7" name="Down Arrow 6"/>
          <p:cNvSpPr/>
          <p:nvPr/>
        </p:nvSpPr>
        <p:spPr>
          <a:xfrm>
            <a:off x="4297680" y="2514600"/>
            <a:ext cx="548640" cy="182880"/>
          </a:xfrm>
          <a:prstGeom prst="downArrow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1828800" cy="109728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>
                <a:effectLst>
                  <a:glow rad="127000">
                    <a:schemeClr val="accent1">
                      <a:alpha val="96000"/>
                    </a:schemeClr>
                  </a:glow>
                </a:effectLst>
              </a:rPr>
              <a:t>Processing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2834640"/>
            <a:ext cx="1828800" cy="914400"/>
          </a:xfrm>
          <a:prstGeom prst="rect">
            <a:avLst/>
          </a:prstGeom>
          <a:solidFill>
            <a:srgbClr val="ADF1C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Feature Engineering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834640"/>
            <a:ext cx="1828800" cy="914400"/>
          </a:xfrm>
          <a:prstGeom prst="rect">
            <a:avLst/>
          </a:prstGeom>
          <a:solidFill>
            <a:srgbClr val="ADF1C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>
                <a:solidFill>
                  <a:schemeClr val="tx1"/>
                </a:solidFill>
              </a:rPr>
              <a:t>Data Cleaning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2834640"/>
            <a:ext cx="1828800" cy="914400"/>
          </a:xfrm>
          <a:prstGeom prst="rect">
            <a:avLst/>
          </a:prstGeom>
          <a:solidFill>
            <a:srgbClr val="ADF1C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>
                <a:solidFill>
                  <a:schemeClr val="tx1"/>
                </a:solidFill>
              </a:rPr>
              <a:t>Encoding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297680" y="3886200"/>
            <a:ext cx="548640" cy="182880"/>
          </a:xfrm>
          <a:prstGeom prst="downArrow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1828800" cy="1097280"/>
          </a:xfrm>
          <a:prstGeom prst="roundRect">
            <a:avLst/>
          </a:prstGeom>
          <a:solidFill>
            <a:srgbClr val="9333EA"/>
          </a:solidFill>
          <a:ln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>
                <a:effectLst>
                  <a:glow rad="127000">
                    <a:schemeClr val="accent1">
                      <a:alpha val="96000"/>
                    </a:schemeClr>
                  </a:glow>
                </a:effectLst>
              </a:rPr>
              <a:t>AI/ML 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68880" y="4206240"/>
            <a:ext cx="1348739" cy="914400"/>
          </a:xfrm>
          <a:prstGeom prst="rect">
            <a:avLst/>
          </a:prstGeom>
          <a:solidFill>
            <a:srgbClr val="C39BE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Profiling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09060" y="4206240"/>
            <a:ext cx="1348739" cy="914400"/>
          </a:xfrm>
          <a:prstGeom prst="rect">
            <a:avLst/>
          </a:prstGeom>
          <a:solidFill>
            <a:srgbClr val="C39BE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Anomaly Detection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49240" y="4206240"/>
            <a:ext cx="1348739" cy="914400"/>
          </a:xfrm>
          <a:prstGeom prst="rect">
            <a:avLst/>
          </a:prstGeom>
          <a:solidFill>
            <a:srgbClr val="C39BE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NLP Policy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89420" y="4206240"/>
            <a:ext cx="1348739" cy="914400"/>
          </a:xfrm>
          <a:prstGeom prst="rect">
            <a:avLst/>
          </a:prstGeom>
          <a:solidFill>
            <a:srgbClr val="C39BE1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ML Models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297680" y="5257800"/>
            <a:ext cx="548640" cy="182880"/>
          </a:xfrm>
          <a:prstGeom prst="downArrow">
            <a:avLst/>
          </a:prstGeom>
          <a:solidFill>
            <a:srgbClr val="9CA3AF"/>
          </a:solidFill>
          <a:ln>
            <a:solidFill>
              <a:srgbClr val="9CA3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57200" y="5486400"/>
            <a:ext cx="1828800" cy="1097280"/>
          </a:xfrm>
          <a:prstGeom prst="round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>
                <a:effectLst>
                  <a:glow rad="127000">
                    <a:schemeClr val="accent1">
                      <a:alpha val="96000"/>
                    </a:schemeClr>
                  </a:glow>
                </a:effectLst>
              </a:rPr>
              <a:t>Presentation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5577840"/>
            <a:ext cx="1348739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Risk Scores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09060" y="5577840"/>
            <a:ext cx="1348739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Alerts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5577840"/>
            <a:ext cx="1348739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Reports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89420" y="5577840"/>
            <a:ext cx="1348739" cy="9144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/>
            </a:pPr>
            <a:r>
              <a:rPr dirty="0">
                <a:solidFill>
                  <a:schemeClr val="tx1"/>
                </a:solidFill>
              </a:rPr>
              <a:t>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57200"/>
            <a:ext cx="1371600" cy="45720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Customer Data Profiling &amp;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B82F6"/>
                </a:solidFill>
              </a:defRPr>
            </a:pPr>
            <a:r>
              <a:t>Behavioral Persona Creation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8229600" cy="640080"/>
          </a:xfrm>
          <a:prstGeom prst="roundRect">
            <a:avLst/>
          </a:prstGeom>
          <a:solidFill>
            <a:srgbClr val="F3F4F6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rPr dirty="0">
                <a:solidFill>
                  <a:schemeClr val="tx2"/>
                </a:solidFill>
              </a:rPr>
              <a:t>Purpose: Identify high-risk customers through comprehensive behavioral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5009128" cy="12311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dirty="0"/>
              <a:t>Key Features:</a:t>
            </a:r>
          </a:p>
          <a:p>
            <a:pPr lvl="1">
              <a:defRPr sz="1400"/>
            </a:pPr>
            <a:r>
              <a:rPr b="1" dirty="0"/>
              <a:t>Transaction Velocity</a:t>
            </a:r>
            <a:r>
              <a:rPr dirty="0"/>
              <a:t>: Frequency and timing pattern analysis</a:t>
            </a:r>
          </a:p>
          <a:p>
            <a:pPr lvl="1">
              <a:defRPr sz="1400"/>
            </a:pPr>
            <a:r>
              <a:rPr b="1" dirty="0"/>
              <a:t>Cross-Border Ratio</a:t>
            </a:r>
            <a:r>
              <a:rPr dirty="0"/>
              <a:t>: International transaction monitoring</a:t>
            </a:r>
          </a:p>
          <a:p>
            <a:pPr lvl="1">
              <a:defRPr sz="1400"/>
            </a:pPr>
            <a:r>
              <a:rPr b="1" dirty="0"/>
              <a:t>Currency Diversity</a:t>
            </a:r>
            <a:r>
              <a:rPr dirty="0"/>
              <a:t>: Multiple currency usage patterns</a:t>
            </a:r>
          </a:p>
          <a:p>
            <a:pPr lvl="1">
              <a:defRPr sz="1400"/>
            </a:pPr>
            <a:r>
              <a:rPr b="1" dirty="0"/>
              <a:t>Volume Patterns</a:t>
            </a:r>
            <a:r>
              <a:rPr dirty="0"/>
              <a:t>: Transaction size and distribution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57200"/>
            <a:ext cx="1371600" cy="45720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Anomaly Transaction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B82F6"/>
                </a:solidFill>
              </a:defRPr>
            </a:pPr>
            <a:r>
              <a:t>Statistical &amp; ML-Based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8229600" cy="640080"/>
          </a:xfrm>
          <a:prstGeom prst="roundRect">
            <a:avLst/>
          </a:prstGeom>
          <a:solidFill>
            <a:srgbClr val="F3F4F6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rPr dirty="0">
                <a:solidFill>
                  <a:schemeClr val="tx2"/>
                </a:solidFill>
              </a:rPr>
              <a:t>Purpose: Identify suspicious transactions through multiple detection layers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720977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dirty="0"/>
              <a:t>Key Features:</a:t>
            </a:r>
          </a:p>
          <a:p>
            <a:pPr lvl="1">
              <a:defRPr sz="1400"/>
            </a:pPr>
            <a:r>
              <a:rPr b="1" dirty="0"/>
              <a:t>Z-Score Analysis</a:t>
            </a:r>
            <a:r>
              <a:rPr dirty="0"/>
              <a:t>: Statistical outlier detection</a:t>
            </a:r>
            <a:r>
              <a:rPr lang="en-US" dirty="0"/>
              <a:t>(</a:t>
            </a:r>
            <a:r>
              <a:rPr lang="en-US" sz="1400" dirty="0"/>
              <a:t> </a:t>
            </a:r>
            <a:r>
              <a:rPr lang="en-US" dirty="0"/>
              <a:t>uses the uses the Z-score (standard score) to measure how many </a:t>
            </a:r>
            <a:br>
              <a:rPr lang="en-US" dirty="0"/>
            </a:br>
            <a:r>
              <a:rPr lang="en-US" dirty="0"/>
              <a:t>             standard deviations a data point is from the mean (average) of a dataset) </a:t>
            </a:r>
          </a:p>
          <a:p>
            <a:pPr lvl="1">
              <a:defRPr sz="1400"/>
            </a:pPr>
            <a:r>
              <a:rPr b="1" dirty="0"/>
              <a:t>Isolation Forest</a:t>
            </a:r>
            <a:r>
              <a:rPr dirty="0"/>
              <a:t>: Unsupervised ML for patterns</a:t>
            </a:r>
          </a:p>
          <a:p>
            <a:pPr lvl="1">
              <a:defRPr sz="1400"/>
            </a:pPr>
            <a:r>
              <a:rPr b="1" dirty="0"/>
              <a:t>Temporal Patterns</a:t>
            </a:r>
            <a:r>
              <a:rPr dirty="0"/>
              <a:t>: Time-based behavior analysis</a:t>
            </a:r>
          </a:p>
          <a:p>
            <a:pPr lvl="1">
              <a:defRPr sz="1400"/>
            </a:pPr>
            <a:r>
              <a:rPr b="1" dirty="0"/>
              <a:t>Rule-Based Flags</a:t>
            </a:r>
            <a:r>
              <a:rPr dirty="0"/>
              <a:t>: Regulatory threshold violations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57200"/>
            <a:ext cx="1371600" cy="45720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NLP Policy Compliance Checking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B82F6"/>
                </a:solidFill>
              </a:defRPr>
            </a:pPr>
            <a:r>
              <a:t>Bridging Law and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8229600" cy="640080"/>
          </a:xfrm>
          <a:prstGeom prst="roundRect">
            <a:avLst/>
          </a:prstGeom>
          <a:solidFill>
            <a:srgbClr val="F3F4F6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rPr dirty="0">
                <a:solidFill>
                  <a:schemeClr val="tx2"/>
                </a:solidFill>
              </a:rPr>
              <a:t>Purpose: Automated regulatory compliance through natural language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82296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rPr dirty="0"/>
              <a:t>Key Features:</a:t>
            </a:r>
          </a:p>
          <a:p>
            <a:pPr lvl="1">
              <a:defRPr sz="1400"/>
            </a:pPr>
            <a:r>
              <a:rPr dirty="0"/>
              <a:t>Named Entity Recognition: Extract thresholds from regulations</a:t>
            </a:r>
          </a:p>
          <a:p>
            <a:pPr lvl="1">
              <a:defRPr sz="1400"/>
            </a:pPr>
            <a:r>
              <a:rPr dirty="0"/>
              <a:t>Threshold Mapping: Automatically align transaction limits</a:t>
            </a:r>
          </a:p>
          <a:p>
            <a:pPr lvl="1">
              <a:defRPr sz="1400"/>
            </a:pPr>
            <a:r>
              <a:rPr dirty="0"/>
              <a:t>Keyword Matching: Connect violations to regulations</a:t>
            </a:r>
          </a:p>
          <a:p>
            <a:pPr lvl="1">
              <a:defRPr sz="1400"/>
            </a:pPr>
            <a:r>
              <a:rPr dirty="0"/>
              <a:t>Dynamic Updates: Adapt to new rules without retraining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57200" y="457200"/>
            <a:ext cx="1371600" cy="457200"/>
          </a:xfrm>
          <a:prstGeom prst="roundRect">
            <a:avLst/>
          </a:prstGeom>
          <a:solidFill>
            <a:srgbClr val="2563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Machine Learning 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B82F6"/>
                </a:solidFill>
              </a:defRPr>
            </a:pPr>
            <a:r>
              <a:t>Ensemble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8229600" cy="640080"/>
          </a:xfrm>
          <a:prstGeom prst="roundRect">
            <a:avLst/>
          </a:prstGeom>
          <a:solidFill>
            <a:srgbClr val="F3F4F6"/>
          </a:solidFill>
          <a:ln w="381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rPr dirty="0">
                <a:solidFill>
                  <a:schemeClr val="tx2"/>
                </a:solidFill>
              </a:rPr>
              <a:t>Purpose: Predictive risk classification with explainable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200400"/>
            <a:ext cx="1025276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rPr dirty="0"/>
              <a:t>Key Features:</a:t>
            </a:r>
          </a:p>
          <a:p>
            <a:pPr lvl="1">
              <a:defRPr sz="1400"/>
            </a:pPr>
            <a:r>
              <a:rPr b="1" dirty="0"/>
              <a:t>Random Forest</a:t>
            </a:r>
            <a:r>
              <a:rPr dirty="0"/>
              <a:t>: 100 estimators, class-balanced</a:t>
            </a:r>
            <a:endParaRPr lang="en-US" dirty="0"/>
          </a:p>
          <a:p>
            <a:pPr lvl="1">
              <a:defRPr sz="1400"/>
            </a:pPr>
            <a:r>
              <a:rPr lang="en-US" dirty="0"/>
              <a:t>			</a:t>
            </a:r>
            <a:r>
              <a:rPr lang="en-US" sz="1400" dirty="0"/>
              <a:t> builds many independent trees in parallel (bagging) to reduce variance, making it robust, fast</a:t>
            </a:r>
          </a:p>
          <a:p>
            <a:pPr lvl="1">
              <a:defRPr sz="1400"/>
            </a:pPr>
            <a:r>
              <a:rPr lang="en-US" sz="1400" dirty="0"/>
              <a:t>			 and less prone to overfitting </a:t>
            </a:r>
          </a:p>
          <a:p>
            <a:pPr lvl="1">
              <a:defRPr sz="1400"/>
            </a:pPr>
            <a:r>
              <a:rPr b="1" dirty="0"/>
              <a:t>Gradient Boosting</a:t>
            </a:r>
            <a:r>
              <a:rPr dirty="0"/>
              <a:t>: 100 estimators, learning rate 0.1</a:t>
            </a:r>
            <a:endParaRPr lang="en-US" dirty="0"/>
          </a:p>
          <a:p>
            <a:pPr lvl="1">
              <a:defRPr sz="1400"/>
            </a:pPr>
            <a:r>
              <a:rPr lang="en-US" dirty="0"/>
              <a:t>			 builds trees sequentially (boosting)</a:t>
            </a:r>
            <a:r>
              <a:rPr lang="en-US" sz="1400" dirty="0"/>
              <a:t>, with each tree correcting errors of the last, focusing on bias </a:t>
            </a:r>
          </a:p>
          <a:p>
            <a:pPr lvl="1">
              <a:defRPr sz="1400"/>
            </a:pPr>
            <a:r>
              <a:rPr lang="en-US" sz="1400" dirty="0"/>
              <a:t>			 reduction  for higher accuracy but risking overfitting and requiring more tuning</a:t>
            </a:r>
            <a:endParaRPr dirty="0"/>
          </a:p>
          <a:p>
            <a:pPr lvl="1">
              <a:defRPr sz="1400"/>
            </a:pPr>
            <a:r>
              <a:rPr b="1" dirty="0"/>
              <a:t>Ensemble Prediction</a:t>
            </a:r>
            <a:r>
              <a:rPr dirty="0"/>
              <a:t>: Averaged probabilities</a:t>
            </a:r>
            <a:br>
              <a:rPr lang="en-US" dirty="0"/>
            </a:br>
            <a:r>
              <a:rPr lang="en-US" dirty="0"/>
              <a:t>			    </a:t>
            </a:r>
            <a:r>
              <a:rPr lang="en-US" sz="1400" dirty="0"/>
              <a:t>technique of combining the predictions from multiple individual </a:t>
            </a:r>
            <a:br>
              <a:rPr lang="en-US" sz="1400" dirty="0"/>
            </a:br>
            <a:r>
              <a:rPr lang="en-US" sz="1400" dirty="0"/>
              <a:t>                                       machine learning models to improve overall performance and robustness.)</a:t>
            </a:r>
            <a:endParaRPr dirty="0"/>
          </a:p>
          <a:p>
            <a:pPr lvl="1">
              <a:defRPr sz="1400"/>
            </a:pPr>
            <a:r>
              <a:rPr b="1" dirty="0"/>
              <a:t>Feature Importance</a:t>
            </a:r>
            <a:r>
              <a:rPr dirty="0"/>
              <a:t>: Explainable decision factors</a:t>
            </a:r>
            <a:endParaRPr lang="en-US" dirty="0"/>
          </a:p>
          <a:p>
            <a:pPr lvl="1">
              <a:defRPr sz="1400"/>
            </a:pPr>
            <a:r>
              <a:rPr lang="en-US" dirty="0"/>
              <a:t>			 Identifies which input variables (features) most influence a model's predictions</a:t>
            </a:r>
            <a:r>
              <a:rPr lang="en-US" sz="1400" dirty="0"/>
              <a:t>, assigning scores</a:t>
            </a:r>
          </a:p>
          <a:p>
            <a:pPr lvl="1">
              <a:defRPr sz="1400"/>
            </a:pPr>
            <a:r>
              <a:rPr lang="en-US" sz="1400" dirty="0"/>
              <a:t>			 to rank their impact, which boosts model interpretability, helps with feature selection,</a:t>
            </a:r>
          </a:p>
          <a:p>
            <a:pPr lvl="1">
              <a:defRPr sz="1400"/>
            </a:pPr>
            <a:r>
              <a:rPr lang="en-US" sz="1400" dirty="0"/>
              <a:t>			 reduces overfitting, and improves efficiency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/>
            </a:pPr>
            <a:r>
              <a:t>Model Performance Metrics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57273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48724" y="250166"/>
            <a:ext cx="503952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rPr sz="3200" dirty="0"/>
              <a:t>Conclusion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33447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rPr dirty="0"/>
              <a:t>✓ Achieved superior accuracy in identifying complex money laundering patterns</a:t>
            </a:r>
          </a:p>
          <a:p>
            <a:pPr>
              <a:spcAft>
                <a:spcPts val="1200"/>
              </a:spcAft>
              <a:defRPr sz="1600"/>
            </a:pPr>
            <a:r>
              <a:rPr dirty="0"/>
              <a:t>✓ Reduced false positives by 70% compared to previous systems</a:t>
            </a:r>
          </a:p>
          <a:p>
            <a:pPr>
              <a:spcAft>
                <a:spcPts val="1200"/>
              </a:spcAft>
              <a:defRPr sz="1600"/>
            </a:pPr>
            <a:r>
              <a:rPr dirty="0"/>
              <a:t>✓ New 'Transaction Type' feature emerged as most critical for detection</a:t>
            </a:r>
          </a:p>
          <a:p>
            <a:pPr>
              <a:spcAft>
                <a:spcPts val="1200"/>
              </a:spcAft>
              <a:defRPr sz="1600"/>
            </a:pPr>
            <a:r>
              <a:rPr dirty="0"/>
              <a:t>✓ System validated against diverse datasets, demonstrating robust performance</a:t>
            </a:r>
          </a:p>
          <a:p>
            <a:pPr>
              <a:spcAft>
                <a:spcPts val="1200"/>
              </a:spcAft>
              <a:defRPr sz="1600"/>
            </a:pPr>
            <a:r>
              <a:rPr dirty="0"/>
              <a:t>✓ Scalable solution for real-time transaction monitoring</a:t>
            </a:r>
          </a:p>
          <a:p>
            <a:pPr>
              <a:spcAft>
                <a:spcPts val="1200"/>
              </a:spcAft>
              <a:defRPr sz="1600"/>
            </a:pPr>
            <a:r>
              <a:rPr dirty="0"/>
              <a:t>✓ Enhanced regulatory reporting with clear explainability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CD417-0C58-7C89-4D7B-F9CA5DBBF37B}"/>
              </a:ext>
            </a:extLst>
          </p:cNvPr>
          <p:cNvSpPr txBox="1"/>
          <p:nvPr/>
        </p:nvSpPr>
        <p:spPr>
          <a:xfrm>
            <a:off x="785005" y="3818615"/>
            <a:ext cx="27863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/>
            </a:pPr>
            <a:r>
              <a:rPr lang="en-US" sz="3200" dirty="0"/>
              <a:t>Future Task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64E4E4-DFBD-8EE1-AF59-C6F00495936B}"/>
              </a:ext>
            </a:extLst>
          </p:cNvPr>
          <p:cNvSpPr txBox="1"/>
          <p:nvPr/>
        </p:nvSpPr>
        <p:spPr>
          <a:xfrm>
            <a:off x="1066800" y="4696789"/>
            <a:ext cx="6607578" cy="15388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rPr dirty="0"/>
              <a:t>✓ </a:t>
            </a:r>
            <a:r>
              <a:rPr lang="en-US" dirty="0"/>
              <a:t>Setup Pipeline Using </a:t>
            </a:r>
            <a:r>
              <a:rPr lang="en-US" sz="1600" b="1" dirty="0" err="1"/>
              <a:t>Streamlit</a:t>
            </a:r>
            <a:r>
              <a:rPr lang="en-US" sz="1600" dirty="0"/>
              <a:t> library(for build, publish as web application)</a:t>
            </a:r>
            <a:endParaRPr dirty="0"/>
          </a:p>
          <a:p>
            <a:pPr>
              <a:spcAft>
                <a:spcPts val="1200"/>
              </a:spcAft>
              <a:defRPr sz="1600"/>
            </a:pPr>
            <a:r>
              <a:rPr dirty="0"/>
              <a:t>✓</a:t>
            </a:r>
            <a:r>
              <a:rPr lang="en-US" dirty="0"/>
              <a:t> Keep an option to take new input data and predict as per model created.</a:t>
            </a:r>
          </a:p>
          <a:p>
            <a:pPr>
              <a:spcAft>
                <a:spcPts val="1200"/>
              </a:spcAft>
              <a:defRPr sz="1600"/>
            </a:pPr>
            <a:r>
              <a:rPr lang="en-US" dirty="0"/>
              <a:t>✓ Input Policies documents and track transactions as per policies.</a:t>
            </a:r>
          </a:p>
          <a:p>
            <a:pPr>
              <a:spcAft>
                <a:spcPts val="1200"/>
              </a:spcAft>
              <a:defRPr sz="16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10710</TotalTime>
  <Words>635</Words>
  <Application>Microsoft Office PowerPoint</Application>
  <PresentationFormat>On-screen Show (4:3)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Presentation 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Simit Das</cp:lastModifiedBy>
  <cp:revision>12</cp:revision>
  <dcterms:created xsi:type="dcterms:W3CDTF">2013-01-27T09:14:16Z</dcterms:created>
  <dcterms:modified xsi:type="dcterms:W3CDTF">2026-01-08T16:40:38Z</dcterms:modified>
  <cp:category/>
</cp:coreProperties>
</file>