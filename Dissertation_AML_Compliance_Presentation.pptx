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1F9"/>
    <a:srgbClr val="2563EB"/>
    <a:srgbClr val="C39BE1"/>
    <a:srgbClr val="ADF1C5"/>
    <a:srgbClr val="22C55E"/>
    <a:srgbClr val="93B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1489" y="569346"/>
            <a:ext cx="49010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rPr lang="en-US" dirty="0"/>
              <a:t>Fraud management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t>Through Risk Assessment and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A Multi-Layered AML Framework using NLP-Driven Policy Mapping</a:t>
            </a:r>
          </a:p>
          <a:p>
            <a:r>
              <a:rPr dirty="0"/>
              <a:t>and Explainable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5595" y="5943600"/>
            <a:ext cx="37328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rPr lang="en-US" dirty="0"/>
              <a:t>Simit Das(</a:t>
            </a:r>
            <a:r>
              <a:rPr lang="en-US" sz="1400" dirty="0"/>
              <a:t>2023AA05807</a:t>
            </a:r>
            <a:r>
              <a:rPr lang="en-US" sz="1400" b="1" dirty="0"/>
              <a:t>)</a:t>
            </a:r>
            <a:r>
              <a:rPr dirty="0"/>
              <a:t>| </a:t>
            </a:r>
            <a:r>
              <a:rPr lang="en-US" dirty="0"/>
              <a:t>BITS Pilani</a:t>
            </a:r>
            <a:r>
              <a:rPr dirty="0"/>
              <a:t> | 202</a:t>
            </a:r>
            <a:r>
              <a:rPr lang="en-US" dirty="0"/>
              <a:t>5-26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Introduction &amp; Problem Statement</a:t>
            </a:r>
          </a:p>
          <a:p>
            <a:pPr>
              <a:defRPr sz="1800"/>
            </a:pPr>
            <a:r>
              <a:rPr dirty="0"/>
              <a:t>System Architecture Overview</a:t>
            </a:r>
          </a:p>
          <a:p>
            <a:pPr>
              <a:defRPr sz="1800"/>
            </a:pPr>
            <a:r>
              <a:rPr dirty="0"/>
              <a:t>Technical Stack &amp; Technologies</a:t>
            </a:r>
          </a:p>
          <a:p>
            <a:pPr>
              <a:defRPr sz="1800"/>
            </a:pPr>
            <a:r>
              <a:rPr dirty="0"/>
              <a:t>Four Core Modules</a:t>
            </a:r>
          </a:p>
          <a:p>
            <a:pPr>
              <a:defRPr sz="1800"/>
            </a:pPr>
            <a:r>
              <a:rPr dirty="0"/>
              <a:t>Implementation &amp; Results</a:t>
            </a:r>
          </a:p>
          <a:p>
            <a:pPr>
              <a:defRPr sz="1800"/>
            </a:pPr>
            <a:r>
              <a:rPr dirty="0"/>
              <a:t>Explainable AI Integration</a:t>
            </a:r>
          </a:p>
          <a:p>
            <a:pPr>
              <a:defRPr sz="1800"/>
            </a:pPr>
            <a:r>
              <a:rPr dirty="0"/>
              <a:t>Key Findings &amp; Metrics</a:t>
            </a:r>
          </a:p>
          <a:p>
            <a:pPr>
              <a:defRPr sz="1800"/>
            </a:pPr>
            <a:r>
              <a:rPr dirty="0"/>
              <a:t>Recommendations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The AML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$800B-$2T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Global ML Volume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t>2-5% of global GDP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95%+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False Positive Rate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t>Traditional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48+ hours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Manual Review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rPr dirty="0"/>
              <a:t>Per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High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Regulatory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rPr dirty="0"/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Key Challenges:</a:t>
            </a:r>
          </a:p>
          <a:p>
            <a:pPr lvl="1">
              <a:defRPr sz="1600"/>
            </a:pPr>
            <a:r>
              <a:rPr dirty="0"/>
              <a:t>Manual compliance processes are slow and error-prone</a:t>
            </a:r>
          </a:p>
          <a:p>
            <a:pPr lvl="1">
              <a:defRPr sz="1600"/>
            </a:pPr>
            <a:r>
              <a:rPr dirty="0"/>
              <a:t>Evolving laundering techniques outpace detection methods</a:t>
            </a:r>
          </a:p>
          <a:p>
            <a:pPr lvl="1">
              <a:defRPr sz="1600"/>
            </a:pPr>
            <a:r>
              <a:rPr dirty="0"/>
              <a:t>High operational costs for compliance teams</a:t>
            </a:r>
          </a:p>
          <a:p>
            <a:pPr lvl="1">
              <a:defRPr sz="1600"/>
            </a:pPr>
            <a:r>
              <a:rPr dirty="0"/>
              <a:t>Lack of explainability in current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517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dirty="0"/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Data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463040"/>
            <a:ext cx="1828800" cy="914400"/>
          </a:xfrm>
          <a:prstGeom prst="rect">
            <a:avLst/>
          </a:prstGeom>
          <a:solidFill>
            <a:srgbClr val="93B1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Transaction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463040"/>
            <a:ext cx="1828800" cy="914400"/>
          </a:xfrm>
          <a:prstGeom prst="rect">
            <a:avLst/>
          </a:prstGeom>
          <a:solidFill>
            <a:srgbClr val="93B1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Customer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1828800" cy="914400"/>
          </a:xfrm>
          <a:prstGeom prst="rect">
            <a:avLst/>
          </a:prstGeom>
          <a:solidFill>
            <a:srgbClr val="93B1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Regulatory Docs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2514600"/>
            <a:ext cx="548640" cy="182880"/>
          </a:xfrm>
          <a:prstGeom prst="downArrow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828800" cy="10972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Processing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834640"/>
            <a:ext cx="1828800" cy="914400"/>
          </a:xfrm>
          <a:prstGeom prst="rect">
            <a:avLst/>
          </a:prstGeom>
          <a:solidFill>
            <a:srgbClr val="ADF1C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Feature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34640"/>
            <a:ext cx="1828800" cy="914400"/>
          </a:xfrm>
          <a:prstGeom prst="rect">
            <a:avLst/>
          </a:prstGeom>
          <a:solidFill>
            <a:srgbClr val="ADF1C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34640"/>
            <a:ext cx="1828800" cy="914400"/>
          </a:xfrm>
          <a:prstGeom prst="rect">
            <a:avLst/>
          </a:prstGeom>
          <a:solidFill>
            <a:srgbClr val="ADF1C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>
                <a:solidFill>
                  <a:schemeClr val="tx1"/>
                </a:solidFill>
              </a:rPr>
              <a:t>Encoding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297680" y="3886200"/>
            <a:ext cx="548640" cy="182880"/>
          </a:xfrm>
          <a:prstGeom prst="downArrow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828800" cy="1097280"/>
          </a:xfrm>
          <a:prstGeom prst="round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AI/ML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Profiling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906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Anomaly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NLP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942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ML Models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297680" y="5257800"/>
            <a:ext cx="548640" cy="182880"/>
          </a:xfrm>
          <a:prstGeom prst="downArrow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828800" cy="10972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Presentation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Risk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906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942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Customer Data Profiling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Behavioral Persona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Identify high-risk customers through comprehensive behavioral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009128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b="1" dirty="0"/>
              <a:t>Transaction Velocity</a:t>
            </a:r>
            <a:r>
              <a:rPr dirty="0"/>
              <a:t>: Frequency and timing pattern analysis</a:t>
            </a:r>
          </a:p>
          <a:p>
            <a:pPr lvl="1">
              <a:defRPr sz="1400"/>
            </a:pPr>
            <a:r>
              <a:rPr b="1" dirty="0"/>
              <a:t>Cross-Border Ratio</a:t>
            </a:r>
            <a:r>
              <a:rPr dirty="0"/>
              <a:t>: International transaction monitoring</a:t>
            </a:r>
          </a:p>
          <a:p>
            <a:pPr lvl="1">
              <a:defRPr sz="1400"/>
            </a:pPr>
            <a:r>
              <a:rPr b="1" dirty="0"/>
              <a:t>Currency Diversity</a:t>
            </a:r>
            <a:r>
              <a:rPr dirty="0"/>
              <a:t>: Multiple currency usage patterns</a:t>
            </a:r>
          </a:p>
          <a:p>
            <a:pPr lvl="1">
              <a:defRPr sz="1400"/>
            </a:pPr>
            <a:r>
              <a:rPr b="1" dirty="0"/>
              <a:t>Volume Patterns</a:t>
            </a:r>
            <a:r>
              <a:rPr dirty="0"/>
              <a:t>: Transaction size and distribution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Anomaly Transaction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Statistical &amp; ML-Based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Identify suspicious transactions through multiple detection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72097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b="1" dirty="0"/>
              <a:t>Z-Score Analysis</a:t>
            </a:r>
            <a:r>
              <a:rPr dirty="0"/>
              <a:t>: Statistical outlier detection</a:t>
            </a:r>
            <a:r>
              <a:rPr lang="en-US" dirty="0"/>
              <a:t>(</a:t>
            </a:r>
            <a:r>
              <a:rPr lang="en-US" sz="1400" dirty="0"/>
              <a:t> </a:t>
            </a:r>
            <a:r>
              <a:rPr lang="en-US" dirty="0"/>
              <a:t>uses the uses the Z-score (standard score) to measure how many </a:t>
            </a:r>
            <a:br>
              <a:rPr lang="en-US" dirty="0"/>
            </a:br>
            <a:r>
              <a:rPr lang="en-US" dirty="0"/>
              <a:t>             standard deviations a data point is from the mean (average) of a dataset) </a:t>
            </a:r>
          </a:p>
          <a:p>
            <a:pPr lvl="1">
              <a:defRPr sz="1400"/>
            </a:pPr>
            <a:r>
              <a:rPr b="1" dirty="0"/>
              <a:t>Isolation Forest</a:t>
            </a:r>
            <a:r>
              <a:rPr dirty="0"/>
              <a:t>: Unsupervised ML for patterns</a:t>
            </a:r>
          </a:p>
          <a:p>
            <a:pPr lvl="1">
              <a:defRPr sz="1400"/>
            </a:pPr>
            <a:r>
              <a:rPr b="1" dirty="0"/>
              <a:t>Temporal Patterns</a:t>
            </a:r>
            <a:r>
              <a:rPr dirty="0"/>
              <a:t>: Time-based behavior analysis</a:t>
            </a:r>
          </a:p>
          <a:p>
            <a:pPr lvl="1">
              <a:defRPr sz="1400"/>
            </a:pPr>
            <a:r>
              <a:rPr b="1" dirty="0"/>
              <a:t>Rule-Based Flags</a:t>
            </a:r>
            <a:r>
              <a:rPr dirty="0"/>
              <a:t>: Regulatory threshold violations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NLP Policy Compliance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Bridging Law and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Automated regulatory compliance through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dirty="0"/>
              <a:t>Named Entity Recognition: Extract thresholds from regulations</a:t>
            </a:r>
          </a:p>
          <a:p>
            <a:pPr lvl="1">
              <a:defRPr sz="1400"/>
            </a:pPr>
            <a:r>
              <a:rPr dirty="0"/>
              <a:t>Threshold Mapping: Automatically align transaction limits</a:t>
            </a:r>
          </a:p>
          <a:p>
            <a:pPr lvl="1">
              <a:defRPr sz="1400"/>
            </a:pPr>
            <a:r>
              <a:rPr dirty="0"/>
              <a:t>Keyword Matching: Connect violations to regulations</a:t>
            </a:r>
          </a:p>
          <a:p>
            <a:pPr lvl="1">
              <a:defRPr sz="1400"/>
            </a:pPr>
            <a:r>
              <a:rPr dirty="0"/>
              <a:t>Dynamic Updates: Adapt to new rules without retraining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Machine Learning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Predictive risk classification with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025276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b="1" dirty="0"/>
              <a:t>Random Forest</a:t>
            </a:r>
            <a:r>
              <a:rPr dirty="0"/>
              <a:t>: 100 estimators, class-balanced</a:t>
            </a:r>
            <a:endParaRPr lang="en-US" dirty="0"/>
          </a:p>
          <a:p>
            <a:pPr lvl="1">
              <a:defRPr sz="1400"/>
            </a:pPr>
            <a:r>
              <a:rPr lang="en-US" dirty="0"/>
              <a:t>			</a:t>
            </a:r>
            <a:r>
              <a:rPr lang="en-US" sz="1400" dirty="0"/>
              <a:t> builds many independent trees in parallel (bagging) to reduce variance, making it robust, fast</a:t>
            </a:r>
          </a:p>
          <a:p>
            <a:pPr lvl="1">
              <a:defRPr sz="1400"/>
            </a:pPr>
            <a:r>
              <a:rPr lang="en-US" sz="1400" dirty="0"/>
              <a:t>			 and less prone to overfitting </a:t>
            </a:r>
          </a:p>
          <a:p>
            <a:pPr lvl="1">
              <a:defRPr sz="1400"/>
            </a:pPr>
            <a:r>
              <a:rPr b="1" dirty="0"/>
              <a:t>Gradient Boosting</a:t>
            </a:r>
            <a:r>
              <a:rPr dirty="0"/>
              <a:t>: 100 estimators, learning rate 0.1</a:t>
            </a:r>
            <a:endParaRPr lang="en-US" dirty="0"/>
          </a:p>
          <a:p>
            <a:pPr lvl="1">
              <a:defRPr sz="1400"/>
            </a:pPr>
            <a:r>
              <a:rPr lang="en-US" dirty="0"/>
              <a:t>			 builds trees sequentially (boosting)</a:t>
            </a:r>
            <a:r>
              <a:rPr lang="en-US" sz="1400" dirty="0"/>
              <a:t>, with each tree correcting errors of the last, focusing on bias </a:t>
            </a:r>
          </a:p>
          <a:p>
            <a:pPr lvl="1">
              <a:defRPr sz="1400"/>
            </a:pPr>
            <a:r>
              <a:rPr lang="en-US" sz="1400" dirty="0"/>
              <a:t>			 reduction  for higher accuracy but risking overfitting and requiring more tuning</a:t>
            </a:r>
            <a:endParaRPr dirty="0"/>
          </a:p>
          <a:p>
            <a:pPr lvl="1">
              <a:defRPr sz="1400"/>
            </a:pPr>
            <a:r>
              <a:rPr b="1" dirty="0"/>
              <a:t>Ensemble Prediction</a:t>
            </a:r>
            <a:r>
              <a:rPr dirty="0"/>
              <a:t>: Averaged probabilities</a:t>
            </a:r>
            <a:br>
              <a:rPr lang="en-US" dirty="0"/>
            </a:br>
            <a:r>
              <a:rPr lang="en-US" dirty="0"/>
              <a:t>			    </a:t>
            </a:r>
            <a:r>
              <a:rPr lang="en-US" sz="1400" dirty="0"/>
              <a:t>technique of combining the predictions from multiple individual </a:t>
            </a:r>
            <a:br>
              <a:rPr lang="en-US" sz="1400" dirty="0"/>
            </a:br>
            <a:r>
              <a:rPr lang="en-US" sz="1400" dirty="0"/>
              <a:t>                                       machine learning models to improve overall performance and robustness.)</a:t>
            </a:r>
            <a:endParaRPr dirty="0"/>
          </a:p>
          <a:p>
            <a:pPr lvl="1">
              <a:defRPr sz="1400"/>
            </a:pPr>
            <a:r>
              <a:rPr b="1" dirty="0"/>
              <a:t>Feature Importance</a:t>
            </a:r>
            <a:r>
              <a:rPr dirty="0"/>
              <a:t>: Explainable decision factors</a:t>
            </a:r>
            <a:endParaRPr lang="en-US" dirty="0"/>
          </a:p>
          <a:p>
            <a:pPr lvl="1">
              <a:defRPr sz="1400"/>
            </a:pPr>
            <a:r>
              <a:rPr lang="en-US" dirty="0"/>
              <a:t>			 Identifies which input variables (features) most influence a model's predictions</a:t>
            </a:r>
            <a:r>
              <a:rPr lang="en-US" sz="1400" dirty="0"/>
              <a:t>, assigning scores</a:t>
            </a:r>
          </a:p>
          <a:p>
            <a:pPr lvl="1">
              <a:defRPr sz="1400"/>
            </a:pPr>
            <a:r>
              <a:rPr lang="en-US" sz="1400" dirty="0"/>
              <a:t>			 to rank their impact, which boosts model interpretability, helps with feature selection,</a:t>
            </a:r>
          </a:p>
          <a:p>
            <a:pPr lvl="1">
              <a:defRPr sz="1400"/>
            </a:pPr>
            <a:r>
              <a:rPr lang="en-US" sz="1400" dirty="0"/>
              <a:t>			 reduces overfitting, and improves efficiency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Model Performance Metrics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27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8724" y="250166"/>
            <a:ext cx="50395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sz="3200" dirty="0"/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33447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/>
              <a:t>✓ Achieved superior accuracy in identifying complex money laundering patterns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Reduced false positives by 70% compared to previous systems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New 'Transaction Type' feature emerged as most critical for detection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System validated against diverse datasets, demonstrating robust performance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Scalable solution for real-time transaction monitoring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Enhanced regulatory reporting with clear explainability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CD417-0C58-7C89-4D7B-F9CA5DBBF37B}"/>
              </a:ext>
            </a:extLst>
          </p:cNvPr>
          <p:cNvSpPr txBox="1"/>
          <p:nvPr/>
        </p:nvSpPr>
        <p:spPr>
          <a:xfrm>
            <a:off x="785005" y="3818615"/>
            <a:ext cx="27863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en-US" sz="3200" dirty="0"/>
              <a:t>Future 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4E4E4-DFBD-8EE1-AF59-C6F00495936B}"/>
              </a:ext>
            </a:extLst>
          </p:cNvPr>
          <p:cNvSpPr txBox="1"/>
          <p:nvPr/>
        </p:nvSpPr>
        <p:spPr>
          <a:xfrm>
            <a:off x="1066800" y="4696789"/>
            <a:ext cx="6607578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/>
              <a:t>✓ </a:t>
            </a:r>
            <a:r>
              <a:rPr lang="en-US" dirty="0"/>
              <a:t>Setup Pipeline Using </a:t>
            </a:r>
            <a:r>
              <a:rPr lang="en-US" sz="1600" b="1" dirty="0" err="1"/>
              <a:t>Streamlit</a:t>
            </a:r>
            <a:r>
              <a:rPr lang="en-US" sz="1600" dirty="0"/>
              <a:t> library(for build, publish as web application)</a:t>
            </a:r>
            <a:endParaRPr dirty="0"/>
          </a:p>
          <a:p>
            <a:pPr>
              <a:spcAft>
                <a:spcPts val="1200"/>
              </a:spcAft>
              <a:defRPr sz="1600"/>
            </a:pPr>
            <a:r>
              <a:rPr dirty="0"/>
              <a:t>✓</a:t>
            </a:r>
            <a:r>
              <a:rPr lang="en-US" dirty="0"/>
              <a:t> Keep an option to take new input data and predict as per model created.</a:t>
            </a:r>
          </a:p>
          <a:p>
            <a:pPr>
              <a:spcAft>
                <a:spcPts val="1200"/>
              </a:spcAft>
              <a:defRPr sz="1600"/>
            </a:pPr>
            <a:r>
              <a:rPr lang="en-US" dirty="0"/>
              <a:t>✓ Input Policies documents and track transactions as per policies.</a:t>
            </a:r>
          </a:p>
          <a:p>
            <a:pPr>
              <a:spcAft>
                <a:spcPts val="12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8540</TotalTime>
  <Words>635</Words>
  <Application>Microsoft Office PowerPoint</Application>
  <PresentationFormat>On-screen Show (4:3)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Presentation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Simit Das</cp:lastModifiedBy>
  <cp:revision>11</cp:revision>
  <dcterms:created xsi:type="dcterms:W3CDTF">2013-01-27T09:14:16Z</dcterms:created>
  <dcterms:modified xsi:type="dcterms:W3CDTF">2026-01-07T04:30:21Z</dcterms:modified>
  <cp:category/>
</cp:coreProperties>
</file>